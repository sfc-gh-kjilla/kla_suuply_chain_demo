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</a:t>
            </a:r>
          </a:p>
          <a:p>
            <a:r>
              <a:t>- Welcome Dave and Jim</a:t>
            </a:r>
          </a:p>
          <a:p>
            <a:r>
              <a:t>- "Today we're going to show you a working prototype of the KLA Escalation Command Center"</a:t>
            </a:r>
          </a:p>
          <a:p>
            <a:r>
              <a:t>- "This is built entirely on Snowflake's platform — Cortex AI for intelligence, with real-time SAP S/4 HANA integration"</a:t>
            </a:r>
          </a:p>
          <a:p>
            <a:r>
              <a:t>- "The goal: replace the email/SharePoint/phone-based case management with a single intelligent command center"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- "We'll start with a quick overview of why Snowflake is the right platform for this"</a:t>
            </a:r>
          </a:p>
          <a:p>
            <a:r>
              <a:t>- "Then we'll do a live demo walking through real escalation scenarios"</a:t>
            </a:r>
          </a:p>
          <a:p>
            <a:r>
              <a:t>- "We'll show the SAP integration — how data flows between S/4 HANA and the command center"</a:t>
            </a:r>
          </a:p>
          <a:p>
            <a:r>
              <a:t>- "And finish with next steps and discussion"</a:t>
            </a:r>
          </a:p>
          <a:p>
            <a:r>
              <a:t>- Keep this slide brief — 30 seconds max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OVERVIEW</a:t>
            </a:r>
          </a:p>
          <a:p>
            <a:r>
              <a:t>- "This is the KLA Escalation Command Center — the single pane of glass that replaces email, SharePoint, and phone calls."</a:t>
            </a:r>
          </a:p>
          <a:p>
            <a:r>
              <a:t>- Point out key elements:</a:t>
            </a:r>
          </a:p>
          <a:p>
            <a:r>
              <a:t>  • KPI bar at top: Revenue at Risk ($12.4M), SLA Penalty Exposure ($890K), Avg Case Age (5.2 days), Parts Cost MTD ($234K)</a:t>
            </a:r>
          </a:p>
          <a:p>
            <a:r>
              <a:t>  • Workflow strip showing the 6-step escalation lifecycle</a:t>
            </a:r>
          </a:p>
          <a:p>
            <a:r>
              <a:t>  • Fleet overview (top-left): 5 customers, 13 fabs, all scanners tracked</a:t>
            </a:r>
          </a:p>
          <a:p>
            <a:r>
              <a:t>  • Sensor health (top-right): Real-time scanner diagnostics</a:t>
            </a:r>
          </a:p>
          <a:p>
            <a:r>
              <a:t>  • Case detail (center): Currently selected escalation case</a:t>
            </a:r>
          </a:p>
          <a:p>
            <a:r>
              <a:t>  • Escalation cases (right): Queue sorted by severity</a:t>
            </a:r>
          </a:p>
          <a:p>
            <a:r>
              <a:t>  • Chat panel (far right): AI agent with suggested prompts</a:t>
            </a:r>
          </a:p>
          <a:p>
            <a:r>
              <a:t>- "Everything you see is powered by Snowflake — unified data, real-time queries, Cortex AI intelligence"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BAR</a:t>
            </a:r>
          </a:p>
          <a:p>
            <a:r>
              <a:t>- "These KPIs are calculated in real-time from your case data, parts costs, and SLA agreements"</a:t>
            </a:r>
          </a:p>
          <a:p>
            <a:r>
              <a:t>- Revenue at Risk: $12.4M — "Total production revenue exposed by active escalation cases"</a:t>
            </a:r>
          </a:p>
          <a:p>
            <a:r>
              <a:t>- SLA Penalty Exposure: $890K — "Contractual penalties accumulating from breached SLAs"</a:t>
            </a:r>
          </a:p>
          <a:p>
            <a:r>
              <a:t>- Avg Case Age: 5.2 days — "How long cases stay open — target is under 3 days for SEV1"</a:t>
            </a:r>
          </a:p>
          <a:p>
            <a:r>
              <a:t>- Parts Cost MTD: $234K — "Month-to-date spend on replacement parts with landed cost awareness"</a:t>
            </a:r>
          </a:p>
          <a:p>
            <a:r>
              <a:t>- Cases/Engineer: 1.4 — "Workload balance across your 4,000 field engineers"</a:t>
            </a:r>
          </a:p>
          <a:p>
            <a:r>
              <a:t>- Batch B-2024-X indicator — "Fleet-wide alert: this batch is the root cause in 5 of 7 cases"</a:t>
            </a:r>
          </a:p>
          <a:p>
            <a:r>
              <a:t>- "Today this data lives in 5 different systems. Here it's one glance."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STRIP</a:t>
            </a:r>
          </a:p>
          <a:p>
            <a:r>
              <a:t>- "Every escalation follows this 6-step lifecycle"</a:t>
            </a:r>
          </a:p>
          <a:p>
            <a:r>
              <a:t>- Issue Detected → Case Created → Parts Identified → Landed Cost Calc → Shipment Executed → Case Resolved</a:t>
            </a:r>
          </a:p>
          <a:p>
            <a:r>
              <a:t>- "The active step is highlighted. For the Samsung case, we're at 'Shipment Executed' — part is in transit"</a:t>
            </a:r>
          </a:p>
          <a:p>
            <a:r>
              <a:t>- "This gives leadership instant visibility into where every case stands in the pipeline"</a:t>
            </a:r>
          </a:p>
          <a:p>
            <a:r>
              <a:t>- "In production, each step transition would be automated with Snowflake Tasks and Streams"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ESCALATION CASES PANEL</a:t>
            </a:r>
          </a:p>
          <a:p>
            <a:r>
              <a:t>- "Your escalation queue — every open case sorted by severity"</a:t>
            </a:r>
          </a:p>
          <a:p>
            <a:r>
              <a:t>- Each card shows: Case ID, title, customer, fab site, assigned engineer, SLA status</a:t>
            </a:r>
          </a:p>
          <a:p>
            <a:r>
              <a:t>- Color coding: Red = SEV1 (production down), Amber = SEV2 (degraded), Blue = SEV3 (monitoring)</a:t>
            </a:r>
          </a:p>
          <a:p>
            <a:r>
              <a:t>- "Click any case to load its full details, sensor health, and communication timeline"</a:t>
            </a:r>
          </a:p>
          <a:p>
            <a:r>
              <a:t>- SEV1 cases at top: Samsung Pyeongtaek and Renesas Naka — both production impacting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SEV1 FILTER</a:t>
            </a:r>
          </a:p>
          <a:p>
            <a:r>
              <a:t>- "Click SEV1 to isolate just the critical cases — production lines down"</a:t>
            </a:r>
          </a:p>
          <a:p>
            <a:r>
              <a:t>- Only 2 cases visible: Samsung Pyeongtaek (ESC-2026-4281) and Renesas Naka (ESC-2026-4305)</a:t>
            </a:r>
          </a:p>
          <a:p>
            <a:r>
              <a:t>- "This is the view a regional VP uses in their morning standup"</a:t>
            </a:r>
          </a:p>
          <a:p>
            <a:r>
              <a:t>- "Both cases share the same root cause: batch B-2024-X NLO Crystal degradation"</a:t>
            </a:r>
          </a:p>
          <a:p>
            <a:r>
              <a:t>- "Pattern detection like this is impossible when cases live in separate email threads"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DETAIL</a:t>
            </a:r>
          </a:p>
          <a:p>
            <a:r>
              <a:t>- "Let's drill into the Samsung case"</a:t>
            </a:r>
          </a:p>
          <a:p>
            <a:r>
              <a:t>- Case header: ESC-2026-4281, SEV1, SLA BREACHED (72h)</a:t>
            </a:r>
          </a:p>
          <a:p>
            <a:r>
              <a:t>- Title: "Critical laser power degradation — production impact"</a:t>
            </a:r>
          </a:p>
          <a:p>
            <a:r>
              <a:t>- Key metadata: Samsung Pyeongtaek P3, Scanner SCN-KR-001, Engineer Park Jin-soo (on-site)</a:t>
            </a:r>
          </a:p>
          <a:p>
            <a:r>
              <a:t>- Laser power at 82.3mW — below the 90mW critical threshold</a:t>
            </a:r>
          </a:p>
          <a:p>
            <a:r>
              <a:t>- Two production lines halted, customer requesting ETA</a:t>
            </a:r>
          </a:p>
          <a:p>
            <a:r>
              <a:t>- Communication Timeline: Every interaction in chronological order</a:t>
            </a:r>
          </a:p>
          <a:p>
            <a:r>
              <a:t>  • Field engineer notes, customer emails, escalation events, parts requests</a:t>
            </a:r>
          </a:p>
          <a:p>
            <a:r>
              <a:t>  • "This replaces searching through Outlook to find what was said"</a:t>
            </a:r>
          </a:p>
          <a:p>
            <a:r>
              <a:t>- Action buttons: "AI Case Summary" and "Source Parts"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 HEALTH</a:t>
            </a:r>
          </a:p>
          <a:p>
            <a:r>
              <a:t>- "When we clicked the Samsung case, sensor health auto-loaded for SCN-KR-001"</a:t>
            </a:r>
          </a:p>
          <a:p>
            <a:r>
              <a:t>- 193nm Laser Power: 82.3mW — CRITICAL (below 90mW threshold)</a:t>
            </a:r>
          </a:p>
          <a:p>
            <a:r>
              <a:t>- 8 sensor dimensions monitored: laser power, chamber temp, stage vibration, pressure, beam current, high voltage, coolant flow, optics contamination</a:t>
            </a:r>
          </a:p>
          <a:p>
            <a:r>
              <a:t>- Green = healthy, Yellow = warning, Red = critical</a:t>
            </a:r>
          </a:p>
          <a:p>
            <a:r>
              <a:t>- "Click any metric and the AI agent analyzes readings and correlates to open cases"</a:t>
            </a:r>
          </a:p>
          <a:p>
            <a:r>
              <a:t>- "2-3 metrics flagging simultaneously tells the engineer: crystal problem, not calibration"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TELEMETRY TAB</a:t>
            </a:r>
          </a:p>
          <a:p>
            <a:r>
              <a:t>- "Laser power time series for SCN-KR-001"</a:t>
            </a:r>
          </a:p>
          <a:p>
            <a:r>
              <a:t>- Shows degradation trend: power declining from ~105mW to 82mW over 12 days</a:t>
            </a:r>
          </a:p>
          <a:p>
            <a:r>
              <a:t>- Red anomaly markers flag readings below 90mW threshold</a:t>
            </a:r>
          </a:p>
          <a:p>
            <a:r>
              <a:t>- "In production, Cortex AI would detect this trend automatically and trigger a proactive case BEFORE the customer calls"</a:t>
            </a:r>
          </a:p>
          <a:p>
            <a:r>
              <a:t>- "This is predictive maintenance — not reactive firefighting"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HISTORY</a:t>
            </a:r>
          </a:p>
          <a:p>
            <a:r>
              <a:t>- "Every maintenance event for this scanner — corrective and preventive"</a:t>
            </a:r>
          </a:p>
          <a:p>
            <a:r>
              <a:t>- SCN-KR-001 had a corrective repair in August: same issue, same part, same batch B-2024-X</a:t>
            </a:r>
          </a:p>
          <a:p>
            <a:r>
              <a:t>- 8.5 hours of downtime from that previous repair</a:t>
            </a:r>
          </a:p>
          <a:p>
            <a:r>
              <a:t>- "The pattern is clear: B-2024-X crystals failing prematurely across the fleet"</a:t>
            </a:r>
          </a:p>
          <a:p>
            <a:r>
              <a:t>- "Without centralization, this correlation takes weeks. Here, the AI flagged it in seconds"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PARTS TAB</a:t>
            </a:r>
          </a:p>
          <a:p>
            <a:r>
              <a:t>- "Where supply chain meets field service"</a:t>
            </a:r>
          </a:p>
          <a:p>
            <a:r>
              <a:t>- Need to ship 994-023 NLO Crystal Assembly to Samsung Pyeongtaek, South Korea</a:t>
            </a:r>
          </a:p>
          <a:p>
            <a:r>
              <a:t>- System compares options by total landed cost including tariffs, duties, VAT</a:t>
            </a:r>
          </a:p>
          <a:p>
            <a:r>
              <a:t>- Singapore Hub: $51,480 landed — 1 day delivery, $0 import duty (ASEAN-Korea FTA)</a:t>
            </a:r>
          </a:p>
          <a:p>
            <a:r>
              <a:t>- Tucson Hub: $58,410 landed — 2 day delivery, $3,600 import duty (8% US-Korea tariff)</a:t>
            </a:r>
          </a:p>
          <a:p>
            <a:r>
              <a:t>- "Singapore saves $7,000 per unit AND arrives a day faster"</a:t>
            </a:r>
          </a:p>
          <a:p>
            <a:r>
              <a:t>- "For a $45,000 crystal, tariff awareness drives the sourcing decision"</a:t>
            </a:r>
          </a:p>
          <a:p>
            <a:r>
              <a:t>- System auto-excludes warehouses with batch B-2024-X stock</a:t>
            </a:r>
          </a:p>
          <a:p>
            <a:r>
              <a:t>- NOTE: For this case path, the display may show batch exclusion message — the shipping cards appear via the chat-triggered sourcing flow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PARTS TRANSFER TAB</a:t>
            </a:r>
          </a:p>
          <a:p>
            <a:r>
              <a:t>- "Sometimes the part isn't at the right warehouse"</a:t>
            </a:r>
          </a:p>
          <a:p>
            <a:r>
              <a:t>- Select source warehouse, destination, and quantity</a:t>
            </a:r>
          </a:p>
          <a:p>
            <a:r>
              <a:t>- Example: Moving 1 unit from Tucson to San Jose to cover backordered cases</a:t>
            </a:r>
          </a:p>
          <a:p>
            <a:r>
              <a:t>- "The agent confirms transfer with before/after inventory levels"</a:t>
            </a:r>
          </a:p>
          <a:p>
            <a:r>
              <a:t>- "Identifies which open cases this transfer supports"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INVENTORY TAB</a:t>
            </a:r>
          </a:p>
          <a:p>
            <a:r>
              <a:t>- "Global inventory status for part 994-023 across all four KLA hubs"</a:t>
            </a:r>
          </a:p>
          <a:p>
            <a:r>
              <a:t>- Tucson Hub: 3 on hand, 1 in transit</a:t>
            </a:r>
          </a:p>
          <a:p>
            <a:r>
              <a:t>- San Jose HQ: 0 on hand, 2 in transit, 4 BACKORDERED — "Red OUT OF STOCK warning"</a:t>
            </a:r>
          </a:p>
          <a:p>
            <a:r>
              <a:t>- Singapore Hub: 2 on hand</a:t>
            </a:r>
          </a:p>
          <a:p>
            <a:r>
              <a:t>- Dresden Hub: 1 on hand, 1 in transit</a:t>
            </a:r>
          </a:p>
          <a:p>
            <a:r>
              <a:t>- "6 units globally, 4 backordered at San Jose"</a:t>
            </a:r>
          </a:p>
          <a:p>
            <a:r>
              <a:t>- "With 5+ cases needing this part, inventory is tight"</a:t>
            </a:r>
          </a:p>
          <a:p>
            <a:r>
              <a:t>- "Click any warehouse card → AI tells you which cases are committed to that stock"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SUMMARY</a:t>
            </a:r>
          </a:p>
          <a:p>
            <a:r>
              <a:t>- "Click 'AI Summary' at the bottom of the cases panel"</a:t>
            </a:r>
          </a:p>
          <a:p>
            <a:r>
              <a:t>- Agent returns: severity counts, SLA status, priority-ranked recommendations</a:t>
            </a:r>
          </a:p>
          <a:p>
            <a:r>
              <a:t>- CRITICAL: Identifies that 5 of 7 cases share root cause: batch B-2024-X crystals</a:t>
            </a:r>
          </a:p>
          <a:p>
            <a:r>
              <a:t>- "This pattern recognition is impossible when cases live in separate email threads"</a:t>
            </a:r>
          </a:p>
          <a:p>
            <a:r>
              <a:t>- "This replaces your Monday morning case review meeting"</a:t>
            </a:r>
          </a:p>
          <a:p>
            <a:r>
              <a:t>- Root cause analysis, fleet impact assessment, and recommended actions — all automated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PANEL — TOOL ORCHESTRATION</a:t>
            </a:r>
          </a:p>
          <a:p>
            <a:r>
              <a:t>- "The AI agent — powered by Snowflake Cortex — orchestrates multiple tools automatically"</a:t>
            </a:r>
          </a:p>
          <a:p>
            <a:r>
              <a:t>- When you ask a question, watch the tool steps appear:</a:t>
            </a:r>
          </a:p>
          <a:p>
            <a:r>
              <a:t>  • scanner_analyst: queries fleet data, case history, sensor readings</a:t>
            </a:r>
          </a:p>
          <a:p>
            <a:r>
              <a:t>  • tech_docs_search: searches technical documentation and service bulletins</a:t>
            </a:r>
          </a:p>
          <a:p>
            <a:r>
              <a:t>  • ship_part: checks inventory and calculates landed costs</a:t>
            </a:r>
          </a:p>
          <a:p>
            <a:r>
              <a:t>- "Each tool step shows status: running (spinner), completed (checkmark)"</a:t>
            </a:r>
          </a:p>
          <a:p>
            <a:r>
              <a:t>- "The agent decides which tools to use based on your question — you don't need to know the underlying data model"</a:t>
            </a:r>
          </a:p>
          <a:p>
            <a:r>
              <a:t>- "This is the power of Cortex Agent: natural language in, structured intelligence out"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RESPONSE</a:t>
            </a:r>
          </a:p>
          <a:p>
            <a:r>
              <a:t>- "After tool orchestration completes, the agent returns a structured response"</a:t>
            </a:r>
          </a:p>
          <a:p>
            <a:r>
              <a:t>- Includes: case summary, sensor analysis, parts recommendations with costs</a:t>
            </a:r>
          </a:p>
          <a:p>
            <a:r>
              <a:t>- "Notice the response references specific data: scanner IDs, power readings, batch numbers, costs"</a:t>
            </a:r>
          </a:p>
          <a:p>
            <a:r>
              <a:t>- "This isn't a generic chatbot — it's querying your actual operational data in real-time"</a:t>
            </a:r>
          </a:p>
          <a:p>
            <a:r>
              <a:t>- "You can ask follow-up questions and the agent maintains context"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SAP INTEGRATION PANEL</a:t>
            </a:r>
          </a:p>
          <a:p>
            <a:r>
              <a:t>- "This panel shows how data flows between SAP S/4 HANA and the Snowflake command center"</a:t>
            </a:r>
          </a:p>
          <a:p>
            <a:r>
              <a:t>- Three data tables visible:</a:t>
            </a:r>
          </a:p>
          <a:p>
            <a:r>
              <a:t>  • Warehouse inventory data from SAP MM</a:t>
            </a:r>
          </a:p>
          <a:p>
            <a:r>
              <a:t>  • Part recommendations with landed cost calculations</a:t>
            </a:r>
          </a:p>
          <a:p>
            <a:r>
              <a:t>  • Tariff/duty rates by trade corridor</a:t>
            </a:r>
          </a:p>
          <a:p>
            <a:r>
              <a:t>- "SAP provides the transactional backbone: inventory, purchase orders, shipping"</a:t>
            </a:r>
          </a:p>
          <a:p>
            <a:r>
              <a:t>- "Snowflake provides the intelligence layer: AI analysis, pattern detection, cost optimization"</a:t>
            </a:r>
          </a:p>
          <a:p>
            <a:r>
              <a:t>- "Data flows in both directions — read from SAP, write back shipment orders"</a:t>
            </a:r>
          </a:p>
          <a:p>
            <a:r>
              <a:t>- "No rip-and-replace of your ERP — this augments SAP with AI intelligence"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OVERLAY</a:t>
            </a:r>
          </a:p>
          <a:p>
            <a:r>
              <a:t>- "This is the technical architecture behind what you just saw"</a:t>
            </a:r>
          </a:p>
          <a:p>
            <a:r>
              <a:t>- LEFT: SAP S/4 HANA — source of truth for inventory, orders, shipping, master data</a:t>
            </a:r>
          </a:p>
          <a:p>
            <a:r>
              <a:t>- CENTER: Snowflake Data Cloud — unified data platform</a:t>
            </a:r>
          </a:p>
          <a:p>
            <a:r>
              <a:t>  • Data ingestion via Snowpipe Streaming</a:t>
            </a:r>
          </a:p>
          <a:p>
            <a:r>
              <a:t>  • Cortex AI Layer: LLM inference, search, agent orchestration</a:t>
            </a:r>
          </a:p>
          <a:p>
            <a:r>
              <a:t>  • Real-time analytics and dashboards</a:t>
            </a:r>
          </a:p>
          <a:p>
            <a:r>
              <a:t>- RIGHT: Value propositions — what the business gets</a:t>
            </a:r>
          </a:p>
          <a:p>
            <a:r>
              <a:t>  • Single pane of glass for 3,500+ cases</a:t>
            </a:r>
          </a:p>
          <a:p>
            <a:r>
              <a:t>  • AI-powered pattern detection (batch B-2024-X)</a:t>
            </a:r>
          </a:p>
          <a:p>
            <a:r>
              <a:t>  • Landed cost optimization ($7K savings per shipment)</a:t>
            </a:r>
          </a:p>
          <a:p>
            <a:r>
              <a:t>  • Proactive maintenance vs reactive firefighting</a:t>
            </a:r>
          </a:p>
          <a:p>
            <a:r>
              <a:t>- "Key point: SAP stays as your ERP. Snowflake adds the intelligence layer on top"</a:t>
            </a:r>
          </a:p>
          <a:p>
            <a:r>
              <a:t>- Data flows: SAP → Snowflake (inventory, orders) and Snowflake → SAP (shipment write-backs)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SHIPMENT MODAL</a:t>
            </a:r>
          </a:p>
          <a:p>
            <a:r>
              <a:t>- "Click 'Execute Shipment' on the recommended source"</a:t>
            </a:r>
          </a:p>
          <a:p>
            <a:r>
              <a:t>- Modal shows: part details, source warehouse, destination, cost breakdown</a:t>
            </a:r>
          </a:p>
          <a:p>
            <a:r>
              <a:t>- "One click creates the shipment order, updates case status, notifies field engineer"</a:t>
            </a:r>
          </a:p>
          <a:p>
            <a:r>
              <a:t>- "The write-back goes to SAP: creates a delivery document in S/4 HANA"</a:t>
            </a:r>
          </a:p>
          <a:p>
            <a:r>
              <a:t>- "No manual data entry, no copy-paste between systems"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SHIPMENT WRITE-BACK</a:t>
            </a:r>
          </a:p>
          <a:p>
            <a:r>
              <a:t>- "After execution, the system confirms: order ID, tracking number, ETA"</a:t>
            </a:r>
          </a:p>
          <a:p>
            <a:r>
              <a:t>- "Simultaneously writes back to SAP S/4 HANA: delivery document, goods movement, billing"</a:t>
            </a:r>
          </a:p>
          <a:p>
            <a:r>
              <a:t>- "The escalation case is automatically updated with shipment status"</a:t>
            </a:r>
          </a:p>
          <a:p>
            <a:r>
              <a:t>- "Field engineer Park Jin-soo gets notified: part arriving tomorrow from Singapore"</a:t>
            </a:r>
          </a:p>
          <a:p>
            <a:r>
              <a:t>- "This closes the loop: from AI recommendation to SAP execution in one workflow"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OVERVIEW</a:t>
            </a:r>
          </a:p>
          <a:p>
            <a:r>
              <a:t>- "Your global fleet at a glance: 5 customers, 13 fabs, every scanner tracked"</a:t>
            </a:r>
          </a:p>
          <a:p>
            <a:r>
              <a:t>- TSMC: 4 fabs, 30 scanners, 3 warnings</a:t>
            </a:r>
          </a:p>
          <a:p>
            <a:r>
              <a:t>- Samsung: 3 fabs, 20 scanners, 1 critical</a:t>
            </a:r>
          </a:p>
          <a:p>
            <a:r>
              <a:t>- Intel: 3 fabs, 16 scanners, 1 warning</a:t>
            </a:r>
          </a:p>
          <a:p>
            <a:r>
              <a:t>- SK Hynix: 2 fabs, 10 scanners, 1 warning</a:t>
            </a:r>
          </a:p>
          <a:p>
            <a:r>
              <a:t>- Renesas: 1 fab, 3 scanners, 1 critical</a:t>
            </a:r>
          </a:p>
          <a:p>
            <a:r>
              <a:t>- "Red = critical, Yellow = warning. Click any fab → AI pulls up cases for that site"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THEME</a:t>
            </a:r>
          </a:p>
          <a:p>
            <a:r>
              <a:t>- "Click the sun/moon icon to toggle themes"</a:t>
            </a:r>
          </a:p>
          <a:p>
            <a:r>
              <a:t>- "Light mode for presentations and executive reviews"</a:t>
            </a:r>
          </a:p>
          <a:p>
            <a:r>
              <a:t>- "Dark mode for the ops center at 2am"</a:t>
            </a:r>
          </a:p>
          <a:p>
            <a:r>
              <a:t>- "Both fully supported with consistent styling"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FILTER</a:t>
            </a:r>
          </a:p>
          <a:p>
            <a:r>
              <a:t>- "Filter the entire dashboard by customer: TSMC, Samsung, Intel, SK Hynix, Renesas"</a:t>
            </a:r>
          </a:p>
          <a:p>
            <a:r>
              <a:t>- "Fleet overview, cases, and metrics all contextualize to the selected customer"</a:t>
            </a:r>
          </a:p>
          <a:p>
            <a:r>
              <a:t>- "Perfect for preparing for a customer quarterly review"</a:t>
            </a:r>
          </a:p>
          <a:p>
            <a:r>
              <a:t>- "Or view all customers for the global operations picture"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</a:t>
            </a:r>
          </a:p>
          <a:p>
            <a:r>
              <a:t>- "Let me bring it back to the business problem"</a:t>
            </a:r>
          </a:p>
          <a:p>
            <a:r>
              <a:t>- TODAY: 3,500 cases managed across email, SharePoint, and phone calls. No single view, no SLA tracking, no pattern detection.</a:t>
            </a:r>
          </a:p>
          <a:p>
            <a:r>
              <a:t>- WITH THIS: Every case, every communication, every part, every cost calculation in one place. The AI agent surfaces patterns like batch B-2024-X affecting 5 cases — something that would take weeks to discover manually.</a:t>
            </a:r>
          </a:p>
          <a:p>
            <a:r>
              <a:t>- LANDED COST: When you're shipping a $45,000 crystal, knowing Singapore saves $7,000 over Tucson because of ASEAN-Korea FTA isn't a nice-to-have — it's margin.</a:t>
            </a:r>
          </a:p>
          <a:p>
            <a:r>
              <a:t>- BUILT ON SNOWFLAKE: All data in one platform. Cortex Agent for natural language queries. No new infrastructure. Connects to your SAP S/4 HANA and existing data sources.</a:t>
            </a:r>
          </a:p>
          <a:p>
            <a:r>
              <a:t>- "Questions?"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9B6F6"/>
                </a:solidFill>
              </a:defRPr>
            </a:pPr>
            <a:r>
              <a:t>KLA Escalation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Snowflake + Cortex AI | Real-Time Field Service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Powered by Snowflake Data Cloud  •  Cortex AI Agent  •  SAP S/4 HANA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Prepared for Dave Kelly &amp; Jim Cordova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B6F6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1.  Snowflake Platform Overview — Why Snowflake for KLA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2.  Real-Time AI Workflow Demo — Live Escalation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3.  SAP Integration &amp; Interoperability — ERP Data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4.  Next Steps &amp;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Dashboard Overview — Single Pane of Glass</a:t>
            </a:r>
          </a:p>
        </p:txBody>
      </p:sp>
      <p:pic>
        <p:nvPicPr>
          <p:cNvPr id="3" name="Picture 2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Executive KPI Bar — Real-Time Business Impact</a:t>
            </a:r>
          </a:p>
        </p:txBody>
      </p:sp>
      <p:pic>
        <p:nvPicPr>
          <p:cNvPr id="3" name="Picture 2" descr="02_kpi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Escalation Workflow — 6-Step Lifecycle</a:t>
            </a:r>
          </a:p>
        </p:txBody>
      </p:sp>
      <p:pic>
        <p:nvPicPr>
          <p:cNvPr id="3" name="Picture 2" descr="03_workflow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005840"/>
            <a:ext cx="1143000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Escalation Queue — Priority-Sorted Cases</a:t>
            </a:r>
          </a:p>
        </p:txBody>
      </p:sp>
      <p:pic>
        <p:nvPicPr>
          <p:cNvPr id="3" name="Picture 2" descr="04_escalation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7" y="1005840"/>
            <a:ext cx="47548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SEV1 Filter — Critical Cases Only</a:t>
            </a:r>
          </a:p>
        </p:txBody>
      </p:sp>
      <p:pic>
        <p:nvPicPr>
          <p:cNvPr id="3" name="Picture 2" descr="05_sev1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Case Deep-Dive — ESC-2026-4281 Samsung Pyeongtaek</a:t>
            </a:r>
          </a:p>
        </p:txBody>
      </p:sp>
      <p:pic>
        <p:nvPicPr>
          <p:cNvPr id="3" name="Picture 2" descr="06_cas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Sensor Health — Real-Time Scanner Diagnostics</a:t>
            </a:r>
          </a:p>
        </p:txBody>
      </p:sp>
      <p:pic>
        <p:nvPicPr>
          <p:cNvPr id="3" name="Picture 2" descr="07_sensor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1005840"/>
            <a:ext cx="6858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Telemetry — Laser Power Degradation Trend</a:t>
            </a:r>
          </a:p>
        </p:txBody>
      </p:sp>
      <p:pic>
        <p:nvPicPr>
          <p:cNvPr id="3" name="Picture 2" descr="08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Maintenance History — Pattern Detection</a:t>
            </a:r>
          </a:p>
        </p:txBody>
      </p:sp>
      <p:pic>
        <p:nvPicPr>
          <p:cNvPr id="3" name="Picture 2" descr="09_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Parts Sourcing — Landed Cost Comparison</a:t>
            </a:r>
          </a:p>
        </p:txBody>
      </p:sp>
      <p:pic>
        <p:nvPicPr>
          <p:cNvPr id="3" name="Picture 2" descr="10_source_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Parts Transfer — Inter-Warehouse Movement</a:t>
            </a:r>
          </a:p>
        </p:txBody>
      </p:sp>
      <p:pic>
        <p:nvPicPr>
          <p:cNvPr id="3" name="Picture 2" descr="11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Global Inventory — Real-Time Stock Visibility</a:t>
            </a:r>
          </a:p>
        </p:txBody>
      </p:sp>
      <p:pic>
        <p:nvPicPr>
          <p:cNvPr id="3" name="Picture 2" descr="12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AI Summary — Priority Recommendations</a:t>
            </a:r>
          </a:p>
        </p:txBody>
      </p:sp>
      <p:pic>
        <p:nvPicPr>
          <p:cNvPr id="3" name="Picture 2" descr="13_a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AI Agent — Multi-Tool Orchestration</a:t>
            </a:r>
          </a:p>
        </p:txBody>
      </p:sp>
      <p:pic>
        <p:nvPicPr>
          <p:cNvPr id="3" name="Picture 2" descr="14_chat_tool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AI Agent — Structured Response</a:t>
            </a:r>
          </a:p>
        </p:txBody>
      </p:sp>
      <p:pic>
        <p:nvPicPr>
          <p:cNvPr id="3" name="Picture 2" descr="14b_cha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SAP Integration — Real-Time Data Flow</a:t>
            </a:r>
          </a:p>
        </p:txBody>
      </p:sp>
      <p:pic>
        <p:nvPicPr>
          <p:cNvPr id="3" name="Picture 2" descr="15_sap_integr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Architecture — SAP + Snowflake Integration</a:t>
            </a:r>
          </a:p>
        </p:txBody>
      </p:sp>
      <p:pic>
        <p:nvPicPr>
          <p:cNvPr id="3" name="Picture 2" descr="16_architectur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Execute Shipment — Order Creation</a:t>
            </a:r>
          </a:p>
        </p:txBody>
      </p:sp>
      <p:pic>
        <p:nvPicPr>
          <p:cNvPr id="3" name="Picture 2" descr="17_shipmen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SAP Write-Back — Automated Order Processing</a:t>
            </a:r>
          </a:p>
        </p:txBody>
      </p:sp>
      <p:pic>
        <p:nvPicPr>
          <p:cNvPr id="3" name="Picture 2" descr="18_shipment_write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Fleet Overview — Global Scanner Status</a:t>
            </a:r>
          </a:p>
        </p:txBody>
      </p:sp>
      <p:pic>
        <p:nvPicPr>
          <p:cNvPr id="3" name="Picture 2" descr="19_fle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1005840"/>
            <a:ext cx="6858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Theme Toggle — Presentation Mode</a:t>
            </a:r>
          </a:p>
        </p:txBody>
      </p:sp>
      <p:pic>
        <p:nvPicPr>
          <p:cNvPr id="3" name="Picture 2" descr="20_light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B6F6"/>
                </a:solidFill>
              </a:defRPr>
            </a:pPr>
            <a:r>
              <a:t>Customer Filter — Contextual Dashboard</a:t>
            </a:r>
          </a:p>
        </p:txBody>
      </p:sp>
      <p:pic>
        <p:nvPicPr>
          <p:cNvPr id="3" name="Picture 2" descr="21_customer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0584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B6F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Today: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3,500 cases across email, SharePoint, phone. No single view. No SLA tracking. No pattern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With This: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Every case, communication, part, cost calculation — in one place. AI surfaces patterns in seconds, not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Landed Cost: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$7,000 savings per shipment via tariff-aware sourcing. ASEAN-Korea FTA applied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Built on Snowflake: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Unified data platform. Cortex AI Agent. SAP S/4 HANA integration. No new infrastructure.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