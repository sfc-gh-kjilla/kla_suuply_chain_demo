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you're looking at is a Global Supply Chain Tower for KLA's scanner fleet. This connects directly to SAP S/4 HANA - you can see the live indicator in the header - and gives our field service and supply chain teams a single pane of glass across all customers.</a:t>
            </a:r>
          </a:p>
          <a:p/>
          <a:p>
            <a:r>
              <a:t>Today we're managing a fleet of 12 fabs across 5 major customers - TSMC, Samsung, Intel, SK Hynix, and Renesas. Right away in the header you can see we have 2 critical scanners and 4 warnings that need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thing a fleet manager does is pick their customer. Let me filter down to TSMC - they're about 50% of our revenue.</a:t>
            </a:r>
          </a:p>
          <a:p/>
          <a:p>
            <a:r>
              <a:t>Now I'm looking at TSMC's 30 scanners across 4 fabs - Tainan, Taichung, Hsinchu, and Arizona. I can immediately see Fab 18 in Tainan has the most scanners and some warnings. The color coding - red for critical, orange for warning, green for healthy - tells me where to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it gets powerful. Scanner SCN-KR-001 in Korea is flagged critical, and instead of just seeing one number, we see ALL the sensor metrics sorted worst-to-best.</a:t>
            </a:r>
          </a:p>
          <a:p/>
          <a:p>
            <a:r>
              <a:t>At the top - 193nm Laser Power at 82.3 milliwatts. That's well below our 90 milliwatt critical threshold. But look - it's not just the laser. Stage Vibration is in warning territory at 3.14 nanometers, Chamber Pressure is low at 0.81 Pascals, and Beam Current is borderline.</a:t>
            </a:r>
          </a:p>
          <a:p/>
          <a:p>
            <a:r>
              <a:t>This strip plot visualization shows the healthy range in green, and the dot shows exactly where the current reading sits. When multiple sensors degrade together like this, that's a pattern - and that's where our AI agent comes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ask our KLA Diagnostic Agent about this. I'll click directly on the 193nm Laser Power metric.</a:t>
            </a:r>
          </a:p>
          <a:p/>
          <a:p>
            <a:r>
              <a:t>That automatically triggers an AI analysis. The agent looks at this scanner's telemetry history, compares it against the full fleet, and identifies root causes.</a:t>
            </a:r>
          </a:p>
          <a:p/>
          <a:p>
            <a:r>
              <a:t>I can ask: 'show me other scanners where this same pattern has been observed.' The agent can correlate degradation patterns across the entire fleet and identify if this is an isolated issue or a systemic batch problem.</a:t>
            </a:r>
          </a:p>
          <a:p/>
          <a:p>
            <a:r>
              <a:t>And I can check if any deferred maintenance could be the root cause. This connects maintenance history to current sensor readings - something that typically requires a field engineer to manually cross-reference.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Below the fleet overview, we have the telemetry trend for this scanner - you can see the laser power degrading over the past two weeks.</a:t>
            </a:r>
          </a:p>
          <a:p/>
          <a:p>
            <a:r>
              <a:t>Switching to Maintenance history, I can see the full repair log - previous part replacements, calibrations, and importantly, any deferred preventive maintenance that might explain what we're seeing.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where diagnostics meets supply chain execution. Once we've identified the issue, I need to get a replacement part to the customer. This view shows me shipping options from different warehouses - cost, transit time, and tax implications side by side.</a:t>
            </a:r>
          </a:p>
          <a:p/>
          <a:p>
            <a:r>
              <a:t>I can compare shipping from our US warehouse versus our APAC warehouse, see the landed cost breakdown, and choose the best option.</a:t>
            </a:r>
          </a:p>
          <a:p/>
          <a:p>
            <a:r>
              <a:t>And if the part isn't in the nearest warehouse, I can initiate a warehouse-to-warehouse transfer to pre-position inventory closer to customers who might need it next.</a:t>
            </a:r>
          </a:p>
          <a:p/>
          <a:p>
            <a:r>
              <a:t>The inventory view gives me real-time stock levels across all our warehouses, so I know exactly what's available before I commit to a repair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to recap - in one unified view, we went from a fleet-level overview, to customer-specific diagnostics, to multi-sensor pattern analysis, to AI-powered root cause identification, to supply chain execution.</a:t>
            </a:r>
          </a:p>
          <a:p/>
          <a:p>
            <a:r>
              <a:t>What used to take a field engineer hours of cross-referencing spreadsheets and SAP transactions now happens in seconds. This is KLA Scanner Intelligence - connecting diagnostics to action, powered by Snowflake and SAP S/4 HANA.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solution is built on:</a:t>
            </a:r>
          </a:p>
          <a:p>
            <a:r>
              <a:t>- Snowflake Cortex Agent for AI diagnostics</a:t>
            </a:r>
          </a:p>
          <a:p>
            <a:r>
              <a:t>- Snowflake Cortex Analyst (Semantic View) for natural language to SQL</a:t>
            </a:r>
          </a:p>
          <a:p>
            <a:r>
              <a:t>- Cortex Search for technical documentation retrieval</a:t>
            </a:r>
          </a:p>
          <a:p>
            <a:r>
              <a:t>- SAP S/4 HANA integration for live ERP data</a:t>
            </a:r>
          </a:p>
          <a:p>
            <a:r>
              <a:t>- React dashboard with real-time sensor telemetry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KLA Scanner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BBBBB"/>
                </a:solidFill>
              </a:defRPr>
            </a:pPr>
            <a:r>
              <a:t>Global Supply Chain Tower</a:t>
            </a:r>
          </a:p>
          <a:p>
            <a:pPr algn="ctr">
              <a:defRPr sz="2400">
                <a:solidFill>
                  <a:srgbClr val="BBBBBB"/>
                </a:solidFill>
              </a:defRPr>
            </a:pPr>
            <a:r>
              <a:t>Powered by Snowflake + SAP S/4 HANA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BA2"/>
                </a:solidFill>
              </a:defRPr>
            </a:pPr>
            <a:r>
              <a:t>The Problem &amp; The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[0:00 - 0:40]</a:t>
            </a:r>
          </a:p>
        </p:txBody>
      </p:sp>
      <p:pic>
        <p:nvPicPr>
          <p:cNvPr id="4" name="Picture 3" descr="01_ful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097280"/>
            <a:ext cx="877824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BA2"/>
                </a:solidFill>
              </a:defRPr>
            </a:pPr>
            <a:r>
              <a:t>Customer Fleet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[0:40 - 1:20] Navigate by Customer</a:t>
            </a:r>
          </a:p>
        </p:txBody>
      </p:sp>
      <p:pic>
        <p:nvPicPr>
          <p:cNvPr id="4" name="Picture 3" descr="02_tsmc_fil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097280"/>
            <a:ext cx="877824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BA2"/>
                </a:solidFill>
              </a:defRPr>
            </a:pPr>
            <a:r>
              <a:t>Sensor Health - Multi-Sensor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[1:20 - 2:10] SCN-KR-001 Critical Scanner</a:t>
            </a:r>
          </a:p>
        </p:txBody>
      </p:sp>
      <p:pic>
        <p:nvPicPr>
          <p:cNvPr id="4" name="Picture 3" descr="03_sensor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767" y="1097280"/>
            <a:ext cx="58521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BA2"/>
                </a:solidFill>
              </a:defRPr>
            </a:pPr>
            <a:r>
              <a:t>AI Diagnostic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[2:10 - 3:10] Pattern Recognition</a:t>
            </a:r>
          </a:p>
        </p:txBody>
      </p:sp>
      <p:pic>
        <p:nvPicPr>
          <p:cNvPr id="4" name="Picture 3" descr="04_ai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447" y="1097280"/>
            <a:ext cx="4876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BA2"/>
                </a:solidFill>
              </a:defRPr>
            </a:pPr>
            <a:r>
              <a:t>Telemetry &amp;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[3:10 - 3:50] The Evidence</a:t>
            </a:r>
          </a:p>
        </p:txBody>
      </p:sp>
      <p:pic>
        <p:nvPicPr>
          <p:cNvPr id="4" name="Picture 3" descr="05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097280"/>
            <a:ext cx="877824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BA2"/>
                </a:solidFill>
              </a:defRPr>
            </a:pPr>
            <a:r>
              <a:t>Supply Chain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[3:50 - 4:30] Ship Part &amp; Transfers</a:t>
            </a:r>
          </a:p>
        </p:txBody>
      </p:sp>
      <p:pic>
        <p:nvPicPr>
          <p:cNvPr id="4" name="Picture 3" descr="06_ship_p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097280"/>
            <a:ext cx="877824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BA2"/>
                </a:solidFill>
              </a:defRPr>
            </a:pPr>
            <a:r>
              <a:t>The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[4:30 - 5:00] Closing</a:t>
            </a:r>
          </a:p>
        </p:txBody>
      </p:sp>
      <p:pic>
        <p:nvPicPr>
          <p:cNvPr id="4" name="Picture 3" descr="07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097280"/>
            <a:ext cx="877824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5BBFF"/>
                </a:solidFill>
              </a:defRPr>
            </a:pPr>
            <a:r>
              <a:t>Data Layer: Snowflake (KLA_SUPPLY_CHAIN database)</a:t>
            </a:r>
          </a:p>
          <a:p>
            <a:pPr>
              <a:defRPr sz="1600">
                <a:solidFill>
                  <a:srgbClr val="DDDDDD"/>
                </a:solidFill>
              </a:defRPr>
            </a:pPr>
            <a:r>
              <a:t>  - SCANNERS: 46 scanners across 12 fabs</a:t>
            </a:r>
          </a:p>
          <a:p>
            <a:pPr>
              <a:defRPr sz="1600">
                <a:solidFill>
                  <a:srgbClr val="DDDDDD"/>
                </a:solidFill>
              </a:defRPr>
            </a:pPr>
            <a:r>
              <a:t>  - TELEMETRY_READINGS: 6,258 sensor readings</a:t>
            </a:r>
          </a:p>
          <a:p>
            <a:pPr>
              <a:defRPr sz="1600">
                <a:solidFill>
                  <a:srgbClr val="DDDDDD"/>
                </a:solidFill>
              </a:defRPr>
            </a:pPr>
            <a:r>
              <a:t>  - ALERTS: Active critical/warning alerts</a:t>
            </a:r>
          </a:p>
          <a:p>
            <a:pPr>
              <a:defRPr sz="1600">
                <a:solidFill>
                  <a:srgbClr val="DDDDDD"/>
                </a:solidFill>
              </a:defRPr>
            </a:pPr>
            <a:r>
              <a:t>  - PARTS_INVENTORY: 14 parts across warehouses</a:t>
            </a:r>
          </a:p>
          <a:p>
            <a:pPr>
              <a:defRPr sz="1600">
                <a:solidFill>
                  <a:srgbClr val="DDDDDD"/>
                </a:solidFill>
              </a:defRPr>
            </a:pPr>
          </a:p>
          <a:p>
            <a:pPr>
              <a:defRPr sz="1800" b="1">
                <a:solidFill>
                  <a:srgbClr val="55BBFF"/>
                </a:solidFill>
              </a:defRPr>
            </a:pPr>
            <a:r>
              <a:t>AI Layer: Snowflake Cortex</a:t>
            </a:r>
          </a:p>
          <a:p>
            <a:pPr>
              <a:defRPr sz="1600">
                <a:solidFill>
                  <a:srgbClr val="DDDDDD"/>
                </a:solidFill>
              </a:defRPr>
            </a:pPr>
            <a:r>
              <a:t>  - Cortex Agent: KLA_DIAGNOSTIC_AGENT</a:t>
            </a:r>
          </a:p>
          <a:p>
            <a:pPr>
              <a:defRPr sz="1600">
                <a:solidFill>
                  <a:srgbClr val="DDDDDD"/>
                </a:solidFill>
              </a:defRPr>
            </a:pPr>
            <a:r>
              <a:t>  - Semantic View: KLA_SCANNER_INTELLIGENCE</a:t>
            </a:r>
          </a:p>
          <a:p>
            <a:pPr>
              <a:defRPr sz="1600">
                <a:solidFill>
                  <a:srgbClr val="DDDDDD"/>
                </a:solidFill>
              </a:defRPr>
            </a:pPr>
            <a:r>
              <a:t>  - Search Service: TECHNICAL_DOCS_SEARCH</a:t>
            </a:r>
          </a:p>
          <a:p>
            <a:pPr>
              <a:defRPr sz="1600">
                <a:solidFill>
                  <a:srgbClr val="DDDDDD"/>
                </a:solidFill>
              </a:defRPr>
            </a:pPr>
          </a:p>
          <a:p>
            <a:pPr>
              <a:defRPr sz="1800" b="1">
                <a:solidFill>
                  <a:srgbClr val="55BBFF"/>
                </a:solidFill>
              </a:defRPr>
            </a:pPr>
            <a:r>
              <a:t>ERP Layer: SAP S/4 HANA</a:t>
            </a:r>
          </a:p>
          <a:p>
            <a:pPr>
              <a:defRPr sz="1600">
                <a:solidFill>
                  <a:srgbClr val="DDDDDD"/>
                </a:solidFill>
              </a:defRPr>
            </a:pPr>
            <a:r>
              <a:t>  - Live inventory &amp; shipping data</a:t>
            </a:r>
          </a:p>
          <a:p>
            <a:pPr>
              <a:defRPr sz="1600">
                <a:solidFill>
                  <a:srgbClr val="DDDDDD"/>
                </a:solidFill>
              </a:defRPr>
            </a:pPr>
            <a:r>
              <a:t>  - Part transfer &amp; logistics</a:t>
            </a:r>
          </a:p>
          <a:p>
            <a:pPr>
              <a:defRPr sz="1600">
                <a:solidFill>
                  <a:srgbClr val="DDDDDD"/>
                </a:solidFill>
              </a:defRPr>
            </a:pPr>
          </a:p>
          <a:p>
            <a:pPr>
              <a:defRPr sz="1800" b="1">
                <a:solidFill>
                  <a:srgbClr val="55BBFF"/>
                </a:solidFill>
              </a:defRPr>
            </a:pPr>
            <a:r>
              <a:t>Frontend: React + TypeScript + Vite</a:t>
            </a:r>
          </a:p>
          <a:p>
            <a:pPr>
              <a:defRPr sz="1600">
                <a:solidFill>
                  <a:srgbClr val="DDDDDD"/>
                </a:solidFill>
              </a:defRPr>
            </a:pPr>
            <a:r>
              <a:t>  - Recharts for telemetry visualization</a:t>
            </a:r>
          </a:p>
          <a:p>
            <a:pPr>
              <a:defRPr sz="1600">
                <a:solidFill>
                  <a:srgbClr val="DDDDDD"/>
                </a:solidFill>
              </a:defRPr>
            </a:pPr>
            <a:r>
              <a:t>  - Real-time sensor health strip plots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